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7" r:id="rId11"/>
    <p:sldId id="265" r:id="rId12"/>
    <p:sldId id="266" r:id="rId13"/>
    <p:sldId id="267" r:id="rId14"/>
    <p:sldId id="279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731520"/>
            <a:ext cx="2194560" cy="2194560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2286000"/>
            <a:ext cx="1554480" cy="1554480"/>
          </a:xfrm>
          <a:prstGeom prst="ellipse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720" y="3291840"/>
            <a:ext cx="1188720" cy="1188720"/>
          </a:xfrm>
          <a:prstGeom prst="ellipse">
            <a:avLst/>
          </a:prstGeom>
          <a:solidFill>
            <a:srgbClr val="F0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6858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74DCD0"/>
                </a:solidFill>
                <a:latin typeface="Aptos"/>
              </a:rPr>
              <a:t>23CSE455  |  DESIGN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58952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Design Pattern Identification
and Evolution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69494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D3DDED"/>
                </a:solidFill>
                <a:latin typeface="Aptos"/>
              </a:rPr>
              <a:t>A case study of a Next.js-based healthcare appointment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069080"/>
            <a:ext cx="61264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A6B9D3"/>
                </a:solidFill>
                <a:latin typeface="Aptos"/>
              </a:rPr>
              <a:t>TEAM B2  •  CSE D  •  11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800600"/>
            <a:ext cx="713232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Baseline audit  →  Pattern-driven evolution  →  Cross-language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291072"/>
            <a:ext cx="6400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6B9D3"/>
                </a:solidFill>
                <a:latin typeface="Aptos"/>
              </a:rPr>
              <a:t>Prepared from the repository, source code, test evidence and B2_Report.tex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6984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E38"/>
                </a:solidFill>
                <a:latin typeface="Aptos"/>
              </a:rPr>
              <a:t>Presentation roadmap &amp;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795528"/>
            <a:ext cx="749808" cy="50292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310896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D69BE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185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8229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57185"/>
                </a:solidFill>
                <a:latin typeface="Aptos"/>
              </a:rPr>
              <a:t>23CSE455 • Design Patterns Case Study • Team B2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20574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1" y="1252728"/>
            <a:ext cx="1911095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9D97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1728216"/>
            <a:ext cx="1911095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57185"/>
                </a:solidFill>
                <a:latin typeface="Aptos"/>
              </a:rPr>
              <a:t>PROJECT PARTS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143000"/>
            <a:ext cx="20574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07792" y="1252728"/>
            <a:ext cx="1911095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2D69BE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1728216"/>
            <a:ext cx="1911095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57185"/>
                </a:solidFill>
                <a:latin typeface="Aptos"/>
              </a:rPr>
              <a:t>GOF PATTERNS ADDED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143000"/>
            <a:ext cx="20574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02352" y="1252728"/>
            <a:ext cx="1911095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0B03C"/>
                </a:solidFill>
                <a:latin typeface="Aptos"/>
              </a:rPr>
              <a:t>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1728216"/>
            <a:ext cx="1911095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57185"/>
                </a:solidFill>
                <a:latin typeface="Aptos"/>
              </a:rPr>
              <a:t>CROSS-LANGUAGE BUILDS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143000"/>
            <a:ext cx="20574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96912" y="1252728"/>
            <a:ext cx="1911095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9D97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1728216"/>
            <a:ext cx="1911095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57185"/>
                </a:solidFill>
                <a:latin typeface="Aptos"/>
              </a:rPr>
              <a:t>LANGUAGES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1143000"/>
            <a:ext cx="20574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91472" y="1252728"/>
            <a:ext cx="1911095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258562"/>
                </a:solidFill>
                <a:latin typeface="Aptos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1728216"/>
            <a:ext cx="1911095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57185"/>
                </a:solidFill>
                <a:latin typeface="Aptos"/>
              </a:rPr>
              <a:t>PART 2 TESTS PASSED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514600"/>
            <a:ext cx="5349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2624328"/>
            <a:ext cx="54864" cy="92354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7" y="2660904"/>
            <a:ext cx="4983479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11E38"/>
                </a:solidFill>
                <a:latin typeface="Aptos"/>
              </a:rPr>
              <a:t>01  Baseline 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3118104"/>
            <a:ext cx="498347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What was really present in the original code—and what AI incorrectly identified.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514600"/>
            <a:ext cx="5349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2624328"/>
            <a:ext cx="54864" cy="923544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2660904"/>
            <a:ext cx="4983479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11E38"/>
                </a:solidFill>
                <a:latin typeface="Aptos"/>
              </a:rPr>
              <a:t>02  Software evolution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118104"/>
            <a:ext cx="498347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Adapter for video, Strategy for doctor availability, Observer for reminders.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886200"/>
            <a:ext cx="5349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3995928"/>
            <a:ext cx="54864" cy="923544"/>
          </a:xfrm>
          <a:prstGeom prst="rect">
            <a:avLst/>
          </a:prstGeom>
          <a:solidFill>
            <a:srgbClr val="F0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7" y="4032504"/>
            <a:ext cx="4983479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11E38"/>
                </a:solidFill>
                <a:latin typeface="Aptos"/>
              </a:rPr>
              <a:t>03  Cross-language comparison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4489704"/>
            <a:ext cx="498347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Seven patterns implemented in Java, Python, JavaScript and C++.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886200"/>
            <a:ext cx="5349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3995928"/>
            <a:ext cx="54864" cy="92354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9088" y="4032504"/>
            <a:ext cx="4983479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11E38"/>
                </a:solidFill>
                <a:latin typeface="Aptos"/>
              </a:rPr>
              <a:t>04  Evidence &amp; conclusions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4489704"/>
            <a:ext cx="498347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Test results, code-size/runtime observations, limitations and lessons.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486400"/>
            <a:ext cx="1078992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57185"/>
                </a:solidFill>
                <a:latin typeface="Aptos"/>
              </a:rPr>
              <a:t>Team of 5: Gali Rahul • T. S. J. Sriharsha • Kartheek Mudi • P. Jaswanth • Sai Pranay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6984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E38"/>
                </a:solidFill>
                <a:latin typeface="Aptos"/>
              </a:rPr>
              <a:t>Case study: the system and the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795528"/>
            <a:ext cx="749808" cy="50292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310896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D69BE"/>
                </a:solidFill>
                <a:latin typeface="Aptos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185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8229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57185"/>
                </a:solidFill>
                <a:latin typeface="Aptos"/>
              </a:rPr>
              <a:t>23CSE455 • Design Patterns Case Study • Team B2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52728"/>
            <a:ext cx="54864" cy="160934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289304"/>
            <a:ext cx="31546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11E38"/>
                </a:solidFill>
                <a:latin typeface="Aptos"/>
              </a:rP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46504"/>
            <a:ext cx="3154680" cy="1115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3042"/>
                </a:solidFill>
                <a:latin typeface="Aptos"/>
              </a:rPr>
              <a:t>CarePulse Healthcare Doctor Appointment Management System
Next.js 14 • React 18 • TypeScript
Appwrite BaaS • Twilio SMS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252728"/>
            <a:ext cx="54864" cy="1609344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289304"/>
            <a:ext cx="31546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11E38"/>
                </a:solidFill>
                <a:latin typeface="Aptos"/>
              </a:rPr>
              <a:t>Baseline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746504"/>
            <a:ext cx="3154680" cy="1115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3042"/>
                </a:solidFill>
                <a:latin typeface="Aptos"/>
              </a:rPr>
              <a:t>UI forms → Next.js Server Actions → Appwrite data operations → inline SMS side effects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252728"/>
            <a:ext cx="54864" cy="1609344"/>
          </a:xfrm>
          <a:prstGeom prst="rect">
            <a:avLst/>
          </a:prstGeom>
          <a:solidFill>
            <a:srgbClr val="F0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289304"/>
            <a:ext cx="31546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11E38"/>
                </a:solidFill>
                <a:latin typeface="Aptos"/>
              </a:rPr>
              <a:t>Research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746504"/>
            <a:ext cx="3154680" cy="1115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3042"/>
                </a:solidFill>
                <a:latin typeface="Aptos"/>
              </a:rPr>
              <a:t>Are classical GoF patterns genuinely implemented—or are we mistaking framework idioms and conditional code for patterns?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29000"/>
            <a:ext cx="106984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11E38"/>
                </a:solidFill>
                <a:latin typeface="Aptos"/>
              </a:rPr>
              <a:t>Study method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86200"/>
            <a:ext cx="10332720" cy="16002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263042"/>
                </a:solidFill>
                <a:latin typeface="Aptos"/>
              </a:rPr>
              <a:t>• </a:t>
            </a:r>
            <a:r>
              <a:rPr sz="1500">
                <a:solidFill>
                  <a:srgbClr val="263042"/>
                </a:solidFill>
                <a:latin typeface="Aptos"/>
              </a:rPr>
              <a:t>1. Inspect: Review baseline modules and use LLMs to propose pattern candidates.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63042"/>
                </a:solidFill>
                <a:latin typeface="Aptos"/>
              </a:rPr>
              <a:t>• </a:t>
            </a:r>
            <a:r>
              <a:rPr sz="1500">
                <a:solidFill>
                  <a:srgbClr val="263042"/>
                </a:solidFill>
                <a:latin typeface="Aptos"/>
              </a:rPr>
              <a:t>2. Verify: Cross-check candidates manually using AST/control-flow evidence and GoF criteria.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63042"/>
                </a:solidFill>
                <a:latin typeface="Aptos"/>
              </a:rPr>
              <a:t>• </a:t>
            </a:r>
            <a:r>
              <a:rPr sz="1500">
                <a:solidFill>
                  <a:srgbClr val="263042"/>
                </a:solidFill>
                <a:latin typeface="Aptos"/>
              </a:rPr>
              <a:t>3. Evolve: Add three clinical features with formal Adapter, Strategy and Observer structures.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63042"/>
                </a:solidFill>
                <a:latin typeface="Aptos"/>
              </a:rPr>
              <a:t>• </a:t>
            </a:r>
            <a:r>
              <a:rPr sz="1500">
                <a:solidFill>
                  <a:srgbClr val="263042"/>
                </a:solidFill>
                <a:latin typeface="Aptos"/>
              </a:rPr>
              <a:t>4. Compare: Implement seven patterns in four languages; test and measure LOC, complexity and runtime.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57185"/>
                </a:solidFill>
                <a:latin typeface="Aptos"/>
              </a:rPr>
              <a:t>Baseline commit: f846cd4c476d48a04fcaeb530b48a77c5295bb92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6984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E38"/>
                </a:solidFill>
                <a:latin typeface="Aptos"/>
              </a:rPr>
              <a:t>Part 1 — baseline audit: patterns vs. look-alikes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795528"/>
            <a:ext cx="749808" cy="50292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310896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D69BE"/>
                </a:solidFill>
                <a:latin typeface="Aptos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185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8229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57185"/>
                </a:solidFill>
                <a:latin typeface="Aptos"/>
              </a:rPr>
              <a:t>23CSE455 • Design Patterns Case Study • Team B2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2286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252728"/>
            <a:ext cx="213969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B94646"/>
                </a:solidFill>
                <a:latin typeface="Apto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28216"/>
            <a:ext cx="21396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57185"/>
                </a:solidFill>
                <a:latin typeface="Aptos"/>
              </a:rPr>
              <a:t>CONFIRMED GoF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143000"/>
            <a:ext cx="2286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19272" y="1252728"/>
            <a:ext cx="213969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9D97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1728216"/>
            <a:ext cx="21396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57185"/>
                </a:solidFill>
                <a:latin typeface="Aptos"/>
              </a:rPr>
              <a:t>PATTERN-LIKE IDIOMS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143000"/>
            <a:ext cx="2286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33872" y="1252728"/>
            <a:ext cx="213969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0B03C"/>
                </a:solidFill>
                <a:latin typeface="Apto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3872" y="1728216"/>
            <a:ext cx="21396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57185"/>
                </a:solidFill>
                <a:latin typeface="Aptos"/>
              </a:rPr>
              <a:t>REJECTED CANDIDATES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143000"/>
            <a:ext cx="27432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8472" y="1252728"/>
            <a:ext cx="259689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2D69BE"/>
                </a:solidFill>
                <a:latin typeface="Aptos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1728216"/>
            <a:ext cx="25968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57185"/>
                </a:solidFill>
                <a:latin typeface="Aptos"/>
              </a:rPr>
              <a:t>UNIQUE PARTICIPANT SYMBOLS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56032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2670048"/>
            <a:ext cx="54864" cy="1014984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2706624"/>
            <a:ext cx="4846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E38"/>
                </a:solidFill>
                <a:latin typeface="Aptos"/>
              </a:rPr>
              <a:t>Pattern-like #1 — Singleton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163824"/>
            <a:ext cx="4846320" cy="521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Appwrite Client / Databases / Users / Messaging / Storage are module-scoped and reused. Idiomatic reuse, but no explicit GoF Singleton class.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56032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2670048"/>
            <a:ext cx="54864" cy="101498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73368" y="2706624"/>
            <a:ext cx="4846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E38"/>
                </a:solidFill>
                <a:latin typeface="Aptos"/>
              </a:rPr>
              <a:t>Pattern-like #2 — Factory function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3163824"/>
            <a:ext cx="4846320" cy="521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getAppointmentSchema(type) selects a Zod schema. A useful parameterized factory, but not the polymorphic GoF Factory Method.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11E38"/>
                </a:solidFill>
                <a:latin typeface="Aptos"/>
              </a:rPr>
              <a:t>Five false positives / refactoring opportunities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63440"/>
            <a:ext cx="10149840" cy="11430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263042"/>
                </a:solidFill>
                <a:latin typeface="Aptos"/>
              </a:rPr>
              <a:t>• </a:t>
            </a:r>
            <a:r>
              <a:rPr sz="1300">
                <a:solidFill>
                  <a:srgbClr val="263042"/>
                </a:solidFill>
                <a:latin typeface="Aptos"/>
              </a:rPr>
              <a:t>Observer: direct SMS call, no subscriber registration.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63042"/>
                </a:solidFill>
                <a:latin typeface="Aptos"/>
              </a:rPr>
              <a:t>• </a:t>
            </a:r>
            <a:r>
              <a:rPr sz="1300">
                <a:solidFill>
                  <a:srgbClr val="263042"/>
                </a:solidFill>
                <a:latin typeface="Aptos"/>
              </a:rPr>
              <a:t>Strategy: switch statement inside AppointmentForm, no strategy objects.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63042"/>
                </a:solidFill>
                <a:latin typeface="Aptos"/>
              </a:rPr>
              <a:t>• </a:t>
            </a:r>
            <a:r>
              <a:rPr sz="1300">
                <a:solidFill>
                  <a:srgbClr val="263042"/>
                </a:solidFill>
                <a:latin typeface="Aptos"/>
              </a:rPr>
              <a:t>State: raw status union; no state-specific transition objects.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63042"/>
                </a:solidFill>
                <a:latin typeface="Aptos"/>
              </a:rPr>
              <a:t>• </a:t>
            </a:r>
            <a:r>
              <a:rPr sz="1300">
                <a:solidFill>
                  <a:srgbClr val="263042"/>
                </a:solidFill>
                <a:latin typeface="Aptos"/>
              </a:rPr>
              <a:t>Command: standalone server-action functions, no command objects or invoker.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63042"/>
                </a:solidFill>
                <a:latin typeface="Aptos"/>
              </a:rPr>
              <a:t>• </a:t>
            </a:r>
            <a:r>
              <a:rPr sz="1300">
                <a:solidFill>
                  <a:srgbClr val="263042"/>
                </a:solidFill>
                <a:latin typeface="Aptos"/>
              </a:rPr>
              <a:t>Adapter: business logic calls Appwrite SDK directly.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6984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E38"/>
                </a:solidFill>
                <a:latin typeface="Aptos"/>
              </a:rPr>
              <a:t>Baseline architecture: where coupling lived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795528"/>
            <a:ext cx="749808" cy="50292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310896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D69BE"/>
                </a:solidFill>
                <a:latin typeface="Aptos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185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8229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57185"/>
                </a:solidFill>
                <a:latin typeface="Aptos"/>
              </a:rPr>
              <a:t>23CSE455 • Design Patterns Case Study • Team B2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1488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1965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React 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67712"/>
            <a:ext cx="19659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57185"/>
                </a:solidFill>
                <a:latin typeface="Aptos"/>
              </a:rPr>
              <a:t>AppointmentForm
PatientForm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1488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1938528"/>
            <a:ext cx="1965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Server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267712"/>
            <a:ext cx="19659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57185"/>
                </a:solidFill>
                <a:latin typeface="Aptos"/>
              </a:rPr>
              <a:t>create / update
appointment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828800"/>
            <a:ext cx="21488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B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0" y="1938528"/>
            <a:ext cx="1965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Appwrite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267712"/>
            <a:ext cx="19659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57185"/>
                </a:solidFill>
                <a:latin typeface="Aptos"/>
              </a:rPr>
              <a:t>Database and
service calls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1828800"/>
            <a:ext cx="24231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41080" y="1938528"/>
            <a:ext cx="224027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Twilio SMS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267712"/>
            <a:ext cx="2240279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57185"/>
                </a:solidFill>
                <a:latin typeface="Aptos"/>
              </a:rPr>
              <a:t>Inline side effect
before response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880360" y="2157984"/>
            <a:ext cx="438912" cy="256032"/>
          </a:xfrm>
          <a:prstGeom prst="rightArrow">
            <a:avLst/>
          </a:prstGeom>
          <a:solidFill>
            <a:srgbClr val="65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5486400" y="2157984"/>
            <a:ext cx="438912" cy="256032"/>
          </a:xfrm>
          <a:prstGeom prst="rightArrow">
            <a:avLst/>
          </a:prstGeom>
          <a:solidFill>
            <a:srgbClr val="65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8092440" y="2157984"/>
            <a:ext cx="438912" cy="256032"/>
          </a:xfrm>
          <a:prstGeom prst="rightArrow">
            <a:avLst/>
          </a:prstGeom>
          <a:solidFill>
            <a:srgbClr val="65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2960" y="365760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" y="3767328"/>
            <a:ext cx="54864" cy="101498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3803904"/>
            <a:ext cx="3063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Problem 1: provider coupling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261104"/>
            <a:ext cx="3063240" cy="521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2"/>
                </a:solidFill>
                <a:latin typeface="Aptos"/>
              </a:rPr>
              <a:t>Appwrite SDK calls sit close to application actions; changing providers affects core code.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65760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89120" y="3767328"/>
            <a:ext cx="54864" cy="1014984"/>
          </a:xfrm>
          <a:prstGeom prst="rect">
            <a:avLst/>
          </a:prstGeom>
          <a:solidFill>
            <a:srgbClr val="F0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0288" y="3803904"/>
            <a:ext cx="3063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Problem 2: conditional complexity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4261104"/>
            <a:ext cx="3063240" cy="521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2"/>
                </a:solidFill>
                <a:latin typeface="Aptos"/>
              </a:rPr>
              <a:t>Workflow and availability variation is handled with branching rather than interchangeable policies.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365760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955279" y="3767328"/>
            <a:ext cx="54864" cy="1014984"/>
          </a:xfrm>
          <a:prstGeom prst="rect">
            <a:avLst/>
          </a:prstGeom>
          <a:solidFill>
            <a:srgbClr val="B9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56448" y="3803904"/>
            <a:ext cx="3063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Problem 3: synchronous side effects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4261104"/>
            <a:ext cx="3063240" cy="521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2"/>
                </a:solidFill>
                <a:latin typeface="Aptos"/>
              </a:rPr>
              <a:t>SMS dispatch is directly invoked by appointment logic; no event subscribers or durable queue.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486400"/>
            <a:ext cx="10149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Design opportunity: introduce abstractions only where variation, external integrations or side effects justify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6984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E38"/>
                </a:solidFill>
                <a:latin typeface="Aptos"/>
              </a:rPr>
              <a:t>Part 2 — evolution: three clinical features, three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795528"/>
            <a:ext cx="749808" cy="50292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310896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D69BE"/>
                </a:solidFill>
                <a:latin typeface="Aptos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185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8229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57185"/>
                </a:solidFill>
                <a:latin typeface="Aptos"/>
              </a:rPr>
              <a:t>23CSE455 • Design Patterns Case Study • Team B2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4389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94646"/>
                </a:solidFill>
                <a:latin typeface="Aptos"/>
              </a:rPr>
              <a:t>BEFORE  | 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143000"/>
            <a:ext cx="4389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58562"/>
                </a:solidFill>
                <a:latin typeface="Aptos"/>
              </a:rPr>
              <a:t>AFTER  |  EVOLVED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4480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709928"/>
            <a:ext cx="54864" cy="832103"/>
          </a:xfrm>
          <a:prstGeom prst="rect">
            <a:avLst/>
          </a:prstGeom>
          <a:solidFill>
            <a:srgbClr val="B9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746504"/>
            <a:ext cx="4114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E38"/>
                </a:solidFill>
                <a:latin typeface="Aptos"/>
              </a:rPr>
              <a:t>Procedural &amp; coupled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03704"/>
            <a:ext cx="4114800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Direct SDK calls • inline SMS • switch-based policies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00200"/>
            <a:ext cx="4800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709928"/>
            <a:ext cx="54864" cy="832103"/>
          </a:xfrm>
          <a:prstGeom prst="rect">
            <a:avLst/>
          </a:prstGeom>
          <a:solidFill>
            <a:srgbClr val="258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1746504"/>
            <a:ext cx="44348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E38"/>
                </a:solidFill>
                <a:latin typeface="Aptos"/>
              </a:rPr>
              <a:t>Explicit roles &amp; contracts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203704"/>
            <a:ext cx="4434840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Target interfaces • replaceable strategies • event subscribers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349240" y="1874519"/>
            <a:ext cx="731520" cy="411480"/>
          </a:xfrm>
          <a:prstGeom prst="rightArrow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3063240"/>
            <a:ext cx="3474720" cy="1417320"/>
          </a:xfrm>
          <a:prstGeom prst="roundRect">
            <a:avLst/>
          </a:prstGeom>
          <a:solidFill>
            <a:srgbClr val="E5EEFB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172968"/>
            <a:ext cx="54864" cy="119786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209544"/>
            <a:ext cx="31089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11E38"/>
                </a:solidFill>
                <a:latin typeface="Aptos"/>
              </a:rPr>
              <a:t>CH01 — Adapter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666744"/>
            <a:ext cx="3108960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Teleconsultation rooms and tokens
4/4 tests passed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063240"/>
            <a:ext cx="3474720" cy="1417320"/>
          </a:xfrm>
          <a:prstGeom prst="roundRect">
            <a:avLst/>
          </a:prstGeom>
          <a:solidFill>
            <a:srgbClr val="E1F5F2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70832" y="3172968"/>
            <a:ext cx="54864" cy="1197864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3209544"/>
            <a:ext cx="31089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11E38"/>
                </a:solidFill>
                <a:latin typeface="Aptos"/>
              </a:rPr>
              <a:t>CH02 —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666744"/>
            <a:ext cx="3108960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Doctor availability policies
6/6 tests passed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063240"/>
            <a:ext cx="3474720" cy="1417320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01000" y="3172968"/>
            <a:ext cx="54864" cy="1197864"/>
          </a:xfrm>
          <a:prstGeom prst="rect">
            <a:avLst/>
          </a:prstGeom>
          <a:solidFill>
            <a:srgbClr val="F0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02168" y="3209544"/>
            <a:ext cx="31089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11E38"/>
                </a:solidFill>
                <a:latin typeface="Aptos"/>
              </a:rPr>
              <a:t>CH03 — Observer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8" y="3666744"/>
            <a:ext cx="3108960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Automated reminders and cancellation
7/7 tests passed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4983480"/>
            <a:ext cx="2286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816352" y="5093208"/>
            <a:ext cx="213969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258562"/>
                </a:solidFill>
                <a:latin typeface="Aptos"/>
              </a:rPr>
              <a:t>17/17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16352" y="5568696"/>
            <a:ext cx="21396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57185"/>
                </a:solidFill>
                <a:latin typeface="Aptos"/>
              </a:rPr>
              <a:t>AUTOMATED TESTS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4960" y="4983480"/>
            <a:ext cx="2286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68112" y="5093208"/>
            <a:ext cx="213969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2D69BE"/>
                </a:solidFill>
                <a:latin typeface="Aptos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68112" y="5568696"/>
            <a:ext cx="21396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57185"/>
                </a:solidFill>
                <a:latin typeface="Aptos"/>
              </a:rPr>
              <a:t>REPORTED REGRESSIONS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4983480"/>
            <a:ext cx="2286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19872" y="5093208"/>
            <a:ext cx="213969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9D97"/>
                </a:solidFill>
                <a:latin typeface="Aptos"/>
              </a:rPr>
              <a:t>+13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9872" y="5568696"/>
            <a:ext cx="21396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57185"/>
                </a:solidFill>
                <a:latin typeface="Aptos"/>
              </a:rPr>
              <a:t>CONCRETE CLASSES / UNITS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6984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E38"/>
                </a:solidFill>
                <a:latin typeface="Aptos"/>
              </a:rPr>
              <a:t>Pattern 1 — Adapter: isolate video provider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795528"/>
            <a:ext cx="749808" cy="50292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310896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D69BE"/>
                </a:solidFill>
                <a:latin typeface="Aptos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185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8229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57185"/>
                </a:solidFill>
                <a:latin typeface="Aptos"/>
              </a:rPr>
              <a:t>23CSE455 • Design Patterns Case Study • Team B2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52728"/>
            <a:ext cx="54864" cy="124358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289304"/>
            <a:ext cx="29260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E38"/>
                </a:solidFill>
                <a:latin typeface="Aptos"/>
              </a:rPr>
              <a:t>Client /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46504"/>
            <a:ext cx="2926080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Appointment action needs standard room details and participant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14300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252728"/>
            <a:ext cx="54864" cy="1243584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7" y="1289304"/>
            <a:ext cx="29260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E38"/>
                </a:solidFill>
                <a:latin typeface="Aptos"/>
              </a:rPr>
              <a:t>Target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1746504"/>
            <a:ext cx="2926080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IVideoConsultationService defines the stable contract the application expects.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14300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252728"/>
            <a:ext cx="54864" cy="1243584"/>
          </a:xfrm>
          <a:prstGeom prst="rect">
            <a:avLst/>
          </a:prstGeom>
          <a:solidFill>
            <a:srgbClr val="F0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1289304"/>
            <a:ext cx="29260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E38"/>
                </a:solidFill>
                <a:latin typeface="Aptos"/>
              </a:rPr>
              <a:t>Adaptee / provider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1746504"/>
            <a:ext cx="2926080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LocalDemonstrationVideoProvider exposes provider-specific data and roles.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41648" y="1691640"/>
            <a:ext cx="320040" cy="228600"/>
          </a:xfrm>
          <a:prstGeom prst="rightArrow">
            <a:avLst/>
          </a:prstGeom>
          <a:solidFill>
            <a:srgbClr val="65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7790688" y="1691640"/>
            <a:ext cx="320040" cy="228600"/>
          </a:xfrm>
          <a:prstGeom prst="rightArrow">
            <a:avLst/>
          </a:prstGeom>
          <a:solidFill>
            <a:srgbClr val="65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063240"/>
            <a:ext cx="10515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11E38"/>
                </a:solidFill>
                <a:latin typeface="Aptos"/>
              </a:rPr>
              <a:t>The adapter translates between the two contracts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566160"/>
            <a:ext cx="10241280" cy="1463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63042"/>
                </a:solidFill>
                <a:latin typeface="Aptos"/>
              </a:rPr>
              <a:t>• </a:t>
            </a:r>
            <a:r>
              <a:rPr sz="1500">
                <a:solidFill>
                  <a:srgbClr val="263042"/>
                </a:solidFill>
                <a:latin typeface="Aptos"/>
              </a:rPr>
              <a:t>Data conversion: ISO-8601 timestamp → epoch milliseconds; duration in minutes → seconds.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63042"/>
                </a:solidFill>
                <a:latin typeface="Aptos"/>
              </a:rPr>
              <a:t>• </a:t>
            </a:r>
            <a:r>
              <a:rPr sz="1500">
                <a:solidFill>
                  <a:srgbClr val="263042"/>
                </a:solidFill>
                <a:latin typeface="Aptos"/>
              </a:rPr>
              <a:t>Role mapping: doctor → clinician; patient → client.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63042"/>
                </a:solidFill>
                <a:latin typeface="Aptos"/>
              </a:rPr>
              <a:t>• </a:t>
            </a:r>
            <a:r>
              <a:rPr sz="1500">
                <a:solidFill>
                  <a:srgbClr val="263042"/>
                </a:solidFill>
                <a:latin typeface="Aptos"/>
              </a:rPr>
              <a:t>Token normalization: provider-specific session credentials → domain-compliant VideoRoomDetails.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63042"/>
                </a:solidFill>
                <a:latin typeface="Aptos"/>
              </a:rPr>
              <a:t>• </a:t>
            </a:r>
            <a:r>
              <a:rPr sz="1500">
                <a:solidFill>
                  <a:srgbClr val="263042"/>
                </a:solidFill>
                <a:latin typeface="Aptos"/>
              </a:rPr>
              <a:t>Outcome: core appointment actions do not depend on a vendor-specific API.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58562"/>
                </a:solidFill>
                <a:latin typeface="Aptos"/>
              </a:rPr>
              <a:t>Evidence: 4 automated tests — room creation, role translation (2 cases) and factory resolution — all passed.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6984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E38"/>
                </a:solidFill>
                <a:latin typeface="Aptos"/>
              </a:rPr>
              <a:t>Pattern 2 — Strategy: swap doctor availability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795528"/>
            <a:ext cx="749808" cy="50292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310896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D69BE"/>
                </a:solidFill>
                <a:latin typeface="Aptos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185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8229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57185"/>
                </a:solidFill>
                <a:latin typeface="Aptos"/>
              </a:rPr>
              <a:t>23CSE455 • Design Patterns Case Study • Team B2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51560"/>
            <a:ext cx="3474720" cy="822960"/>
          </a:xfrm>
          <a:prstGeom prst="roundRect">
            <a:avLst/>
          </a:prstGeom>
          <a:solidFill>
            <a:srgbClr val="E1F5F2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97680" y="1161288"/>
            <a:ext cx="54864" cy="603504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8848" y="1197863"/>
            <a:ext cx="31089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DoctorAvailabilityContext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655064"/>
            <a:ext cx="310896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2"/>
                </a:solidFill>
                <a:latin typeface="Aptos"/>
              </a:rPr>
              <a:t>Holds an IAvailabilityStrategy and delegates validation.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240280" y="1965960"/>
            <a:ext cx="274320" cy="384048"/>
          </a:xfrm>
          <a:prstGeom prst="downArrow">
            <a:avLst/>
          </a:prstGeom>
          <a:solidFill>
            <a:srgbClr val="65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own Arrow 11"/>
          <p:cNvSpPr/>
          <p:nvPr/>
        </p:nvSpPr>
        <p:spPr>
          <a:xfrm>
            <a:off x="6080760" y="1965960"/>
            <a:ext cx="274320" cy="384048"/>
          </a:xfrm>
          <a:prstGeom prst="downArrow">
            <a:avLst/>
          </a:prstGeom>
          <a:solidFill>
            <a:srgbClr val="65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own Arrow 12"/>
          <p:cNvSpPr/>
          <p:nvPr/>
        </p:nvSpPr>
        <p:spPr>
          <a:xfrm>
            <a:off x="9921240" y="1965960"/>
            <a:ext cx="274320" cy="384048"/>
          </a:xfrm>
          <a:prstGeom prst="downArrow">
            <a:avLst/>
          </a:prstGeom>
          <a:solidFill>
            <a:srgbClr val="65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514600"/>
            <a:ext cx="3337560" cy="1325880"/>
          </a:xfrm>
          <a:prstGeom prst="roundRect">
            <a:avLst/>
          </a:prstGeom>
          <a:solidFill>
            <a:srgbClr val="E5EEFB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624328"/>
            <a:ext cx="54864" cy="110642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2660904"/>
            <a:ext cx="2971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StandardBusinessHoursStrategy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118104"/>
            <a:ext cx="297180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2"/>
                </a:solidFill>
                <a:latin typeface="Aptos"/>
              </a:rPr>
              <a:t>Weekday outpatient slots; business hours and lunch blackout.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2514600"/>
            <a:ext cx="3337560" cy="1325880"/>
          </a:xfrm>
          <a:prstGeom prst="roundRect">
            <a:avLst/>
          </a:prstGeom>
          <a:solidFill>
            <a:srgbClr val="E1F5F2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34840" y="2624328"/>
            <a:ext cx="54864" cy="1106424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36007" y="2660904"/>
            <a:ext cx="2971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ShiftBasedAvailabilityStrategy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3118104"/>
            <a:ext cx="297180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2"/>
                </a:solidFill>
                <a:latin typeface="Aptos"/>
              </a:rPr>
              <a:t>Doctor-specific shift windows; reject out-of-shift slots.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2514600"/>
            <a:ext cx="3337560" cy="1325880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2624328"/>
            <a:ext cx="54864" cy="1106424"/>
          </a:xfrm>
          <a:prstGeom prst="rect">
            <a:avLst/>
          </a:prstGeom>
          <a:solidFill>
            <a:srgbClr val="F0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30768" y="2660904"/>
            <a:ext cx="2971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EmergencyOnCallAvailabilityStrategy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3118104"/>
            <a:ext cx="297180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2"/>
                </a:solidFill>
                <a:latin typeface="Aptos"/>
              </a:rPr>
              <a:t>24/7 emergency availability; 15-minute recovery buffer.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343400"/>
            <a:ext cx="104241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11E38"/>
                </a:solidFill>
                <a:latin typeface="Aptos"/>
              </a:rPr>
              <a:t>Why Strategy fits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754880"/>
            <a:ext cx="10058400" cy="10972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263042"/>
                </a:solidFill>
                <a:latin typeface="Aptos"/>
              </a:rPr>
              <a:t>• </a:t>
            </a:r>
            <a:r>
              <a:rPr sz="1400">
                <a:solidFill>
                  <a:srgbClr val="263042"/>
                </a:solidFill>
                <a:latin typeface="Aptos"/>
              </a:rPr>
              <a:t>Encapsulation: each rule set lives in a separate implementation of the same contract.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63042"/>
                </a:solidFill>
                <a:latin typeface="Aptos"/>
              </a:rPr>
              <a:t>• </a:t>
            </a:r>
            <a:r>
              <a:rPr sz="1400">
                <a:solidFill>
                  <a:srgbClr val="263042"/>
                </a:solidFill>
                <a:latin typeface="Aptos"/>
              </a:rPr>
              <a:t>Runtime flexibility: the context can resolve a policy from doctor availability configuration.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63042"/>
                </a:solidFill>
                <a:latin typeface="Aptos"/>
              </a:rPr>
              <a:t>• </a:t>
            </a:r>
            <a:r>
              <a:rPr sz="1400">
                <a:solidFill>
                  <a:srgbClr val="263042"/>
                </a:solidFill>
                <a:latin typeface="Aptos"/>
              </a:rPr>
              <a:t>Open/Closed Principle: add a new policy without expanding a single large conditional.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989320"/>
            <a:ext cx="10424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94646"/>
                </a:solidFill>
                <a:latin typeface="Aptos"/>
              </a:rPr>
              <a:t>Evidence: 6/6 tests passed. Limitation: in-memory validation alone cannot prevent concurrent double-booking.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6984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E38"/>
                </a:solidFill>
                <a:latin typeface="Aptos"/>
              </a:rPr>
              <a:t>Pattern 3 — Observer: publish appointment domain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795528"/>
            <a:ext cx="749808" cy="50292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310896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D69BE"/>
                </a:solidFill>
                <a:latin typeface="Aptos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185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8229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57185"/>
                </a:solidFill>
                <a:latin typeface="Aptos"/>
              </a:rPr>
              <a:t>23CSE455 • Design Patterns Case Study • Team B2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2743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44168"/>
            <a:ext cx="54864" cy="87782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380744"/>
            <a:ext cx="23774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Appointment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37944"/>
            <a:ext cx="2377440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2"/>
                </a:solidFill>
                <a:latin typeface="Aptos"/>
              </a:rPr>
              <a:t>Publishes SCHEDULED or CANCELLED event.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1234440"/>
            <a:ext cx="2743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49039" y="1344168"/>
            <a:ext cx="54864" cy="877824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50207" y="1380744"/>
            <a:ext cx="23774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DomainEventBus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7" y="1837944"/>
            <a:ext cx="2377440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2"/>
                </a:solidFill>
                <a:latin typeface="Aptos"/>
              </a:rPr>
              <a:t>Maintains subscribers and dispatches events.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234440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12280" y="1344168"/>
            <a:ext cx="54864" cy="877824"/>
          </a:xfrm>
          <a:prstGeom prst="rect">
            <a:avLst/>
          </a:prstGeom>
          <a:solidFill>
            <a:srgbClr val="F0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13448" y="1380744"/>
            <a:ext cx="1645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Observers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1837944"/>
            <a:ext cx="1645920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2"/>
                </a:solidFill>
                <a:latin typeface="Aptos"/>
              </a:rPr>
              <a:t>Reminder scheduler
Cancellation
Audit log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234440"/>
            <a:ext cx="2331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0" y="1344168"/>
            <a:ext cx="54864" cy="87782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45168" y="1380744"/>
            <a:ext cx="19659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Reminder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1837944"/>
            <a:ext cx="1965960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2"/>
                </a:solidFill>
                <a:latin typeface="Aptos"/>
              </a:rPr>
              <a:t>JSON persistence
Idempotency keys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456432" y="1618488"/>
            <a:ext cx="256032" cy="228600"/>
          </a:xfrm>
          <a:prstGeom prst="rightArrow">
            <a:avLst/>
          </a:prstGeom>
          <a:solidFill>
            <a:srgbClr val="65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Arrow 23"/>
          <p:cNvSpPr/>
          <p:nvPr/>
        </p:nvSpPr>
        <p:spPr>
          <a:xfrm>
            <a:off x="6382512" y="1618488"/>
            <a:ext cx="256032" cy="228600"/>
          </a:xfrm>
          <a:prstGeom prst="rightArrow">
            <a:avLst/>
          </a:prstGeom>
          <a:solidFill>
            <a:srgbClr val="65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8851392" y="1618488"/>
            <a:ext cx="256032" cy="228600"/>
          </a:xfrm>
          <a:prstGeom prst="rightArrow">
            <a:avLst/>
          </a:prstGeom>
          <a:solidFill>
            <a:srgbClr val="65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2880360"/>
            <a:ext cx="10515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11E38"/>
                </a:solidFill>
                <a:latin typeface="Aptos"/>
              </a:rPr>
              <a:t>Reminder lifecycle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38328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1520" y="3493008"/>
            <a:ext cx="54864" cy="832103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" y="3529584"/>
            <a:ext cx="21488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E38"/>
                </a:solidFill>
                <a:latin typeface="Aptos"/>
              </a:rPr>
              <a:t>SCHEDULED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986784"/>
            <a:ext cx="2148840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2"/>
                </a:solidFill>
                <a:latin typeface="Aptos"/>
              </a:rPr>
              <a:t>Create T−24h and T−2h reminders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273552" y="3749039"/>
            <a:ext cx="301752" cy="201168"/>
          </a:xfrm>
          <a:prstGeom prst="rightArrow">
            <a:avLst/>
          </a:prstGeom>
          <a:solidFill>
            <a:srgbClr val="65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611880" y="338328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11880" y="3493008"/>
            <a:ext cx="54864" cy="832103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13048" y="3529584"/>
            <a:ext cx="21488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E38"/>
                </a:solidFill>
                <a:latin typeface="Aptos"/>
              </a:rPr>
              <a:t>PENDING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3048" y="3986784"/>
            <a:ext cx="2148840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2"/>
                </a:solidFill>
                <a:latin typeface="Aptos"/>
              </a:rPr>
              <a:t>Wait until reminder window is due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6153912" y="3749039"/>
            <a:ext cx="301752" cy="201168"/>
          </a:xfrm>
          <a:prstGeom prst="rightArrow">
            <a:avLst/>
          </a:prstGeom>
          <a:solidFill>
            <a:srgbClr val="65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492240" y="338328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92240" y="3493008"/>
            <a:ext cx="54864" cy="832103"/>
          </a:xfrm>
          <a:prstGeom prst="rect">
            <a:avLst/>
          </a:prstGeom>
          <a:solidFill>
            <a:srgbClr val="F0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93407" y="3529584"/>
            <a:ext cx="21488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E38"/>
                </a:solidFill>
                <a:latin typeface="Aptos"/>
              </a:rPr>
              <a:t>PROCESSING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93407" y="3986784"/>
            <a:ext cx="2148840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2"/>
                </a:solidFill>
                <a:latin typeface="Aptos"/>
              </a:rPr>
              <a:t>Dispatch with retry handling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9034272" y="3749039"/>
            <a:ext cx="301752" cy="201168"/>
          </a:xfrm>
          <a:prstGeom prst="rightArrow">
            <a:avLst/>
          </a:prstGeom>
          <a:solidFill>
            <a:srgbClr val="65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372600" y="338328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372600" y="3493008"/>
            <a:ext cx="54864" cy="832103"/>
          </a:xfrm>
          <a:prstGeom prst="rect">
            <a:avLst/>
          </a:prstGeom>
          <a:solidFill>
            <a:srgbClr val="258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573768" y="3529584"/>
            <a:ext cx="21488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E38"/>
                </a:solidFill>
                <a:latin typeface="Aptos"/>
              </a:rPr>
              <a:t>SENT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73768" y="3986784"/>
            <a:ext cx="2148840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2"/>
                </a:solidFill>
                <a:latin typeface="Aptos"/>
              </a:rPr>
              <a:t>Mark completed; idempotency prevents duplicates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4892040"/>
            <a:ext cx="10149840" cy="96012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263042"/>
                </a:solidFill>
                <a:latin typeface="Aptos"/>
              </a:rPr>
              <a:t>• </a:t>
            </a:r>
            <a:r>
              <a:rPr sz="1300">
                <a:solidFill>
                  <a:srgbClr val="263042"/>
                </a:solidFill>
                <a:latin typeface="Aptos"/>
              </a:rPr>
              <a:t>Reliability controls: deterministic idempotency keys, atomic JSON writes, up to 3 retries, cancellation revocation.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263042"/>
                </a:solidFill>
                <a:latin typeface="Aptos"/>
              </a:rPr>
              <a:t>• </a:t>
            </a:r>
            <a:r>
              <a:rPr sz="1300">
                <a:solidFill>
                  <a:srgbClr val="263042"/>
                </a:solidFill>
                <a:latin typeface="Aptos"/>
              </a:rPr>
              <a:t>Evidence: 7/7 tests passed across event publication, subscriber dispatch, windows, audit, deduplication, retries and cancellation.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69848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11E38"/>
                </a:solidFill>
                <a:latin typeface="Aptos"/>
              </a:rPr>
              <a:t>Part 2 deep dive — verification and limits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795528"/>
            <a:ext cx="749808" cy="50292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64040" y="310896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2D69BE"/>
                </a:solidFill>
                <a:latin typeface="Aptos"/>
              </a:rPr>
              <a:t>PART 2 •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8229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57185"/>
                </a:solidFill>
                <a:latin typeface="Aptos"/>
              </a:rPr>
              <a:t>23CSE455 • Design Patterns Case Study • Team B2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298448"/>
            <a:ext cx="2231136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D69BE"/>
                </a:solidFill>
                <a:latin typeface="Aptos"/>
              </a:rPr>
              <a:t>4/4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719072"/>
            <a:ext cx="223113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57185"/>
                </a:solidFill>
                <a:latin typeface="Aptos"/>
              </a:rPr>
              <a:t>Adapter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188720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02152" y="1298448"/>
            <a:ext cx="2231136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F9D97"/>
                </a:solidFill>
                <a:latin typeface="Aptos"/>
              </a:rPr>
              <a:t>6/6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1719072"/>
            <a:ext cx="223113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57185"/>
                </a:solidFill>
                <a:latin typeface="Aptos"/>
              </a:rPr>
              <a:t>Strategy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88720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9632" y="1298448"/>
            <a:ext cx="2231136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0B03C"/>
                </a:solidFill>
                <a:latin typeface="Aptos"/>
              </a:rPr>
              <a:t>7/7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1719072"/>
            <a:ext cx="223113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57185"/>
                </a:solidFill>
                <a:latin typeface="Aptos"/>
              </a:rPr>
              <a:t>Observer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188720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97112" y="1298448"/>
            <a:ext cx="2231136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58562"/>
                </a:solidFill>
                <a:latin typeface="Aptos"/>
              </a:rPr>
              <a:t>17/17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2" y="1719072"/>
            <a:ext cx="223113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57185"/>
                </a:solidFill>
                <a:latin typeface="Aptos"/>
              </a:rPr>
              <a:t>Total tests passed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514600"/>
            <a:ext cx="103327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11E38"/>
                </a:solidFill>
                <a:latin typeface="Aptos"/>
              </a:rPr>
              <a:t>Runtime / quality evidence from Part 2 verification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926080"/>
            <a:ext cx="4892040" cy="20116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263042"/>
                </a:solidFill>
                <a:latin typeface="Aptos"/>
              </a:rPr>
              <a:t>• Application returned HTTP 200 and loaded the CarePulse homepage.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63042"/>
                </a:solidFill>
                <a:latin typeface="Aptos"/>
              </a:rPr>
              <a:t>• Browser verification covered baseline pages, patient registration, appointment booking and admin dashboard.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63042"/>
                </a:solidFill>
                <a:latin typeface="Aptos"/>
              </a:rPr>
              <a:t>• Video token endpoint validated accepted roles and rejected invalid roles.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63042"/>
                </a:solidFill>
                <a:latin typeface="Aptos"/>
              </a:rPr>
              <a:t>• TypeScript compilation: 0 errors; ESLint: no warnings or errors.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63042"/>
                </a:solidFill>
                <a:latin typeface="Aptos"/>
              </a:rPr>
              <a:t>• Production build completed with 11/11 pages compiled.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926080"/>
            <a:ext cx="4937760" cy="914400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3035808"/>
            <a:ext cx="54864" cy="694944"/>
          </a:xfrm>
          <a:prstGeom prst="rect">
            <a:avLst/>
          </a:prstGeom>
          <a:solidFill>
            <a:srgbClr val="F0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3035808"/>
            <a:ext cx="46177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11E38"/>
                </a:solidFill>
                <a:latin typeface="Aptos"/>
              </a:rPr>
              <a:t>Demonstration-mode disclosure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429000"/>
            <a:ext cx="46177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63042"/>
                </a:solidFill>
                <a:latin typeface="Aptos"/>
              </a:rPr>
              <a:t>Appwrite cloud credentials returned 401; local JSON demonstration storage was used. This is not a live production backend.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023360"/>
            <a:ext cx="4937760" cy="914400"/>
          </a:xfrm>
          <a:prstGeom prst="roundRect">
            <a:avLst/>
          </a:prstGeom>
          <a:solidFill>
            <a:srgbClr val="FCE9E9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4133088"/>
            <a:ext cx="54864" cy="694944"/>
          </a:xfrm>
          <a:prstGeom prst="rect">
            <a:avLst/>
          </a:prstGeom>
          <a:solidFill>
            <a:srgbClr val="B9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4133088"/>
            <a:ext cx="46177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11E38"/>
                </a:solidFill>
                <a:latin typeface="Aptos"/>
              </a:rPr>
              <a:t>Video integration disclosure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526280"/>
            <a:ext cx="46177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63042"/>
                </a:solidFill>
                <a:latin typeface="Aptos"/>
              </a:rPr>
              <a:t>The local provider mints demonstration JWT tokens and URLs; it does not provide real WebRTC media streaming.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5120640"/>
            <a:ext cx="4937760" cy="731520"/>
          </a:xfrm>
          <a:prstGeom prst="roundRect">
            <a:avLst/>
          </a:prstGeom>
          <a:solidFill>
            <a:srgbClr val="E5EEFB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5230368"/>
            <a:ext cx="54864" cy="51206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5230368"/>
            <a:ext cx="46177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11E38"/>
                </a:solidFill>
                <a:latin typeface="Aptos"/>
              </a:rPr>
              <a:t>Deployment follow-up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623559"/>
            <a:ext cx="46177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63042"/>
                </a:solidFill>
                <a:latin typeface="Aptos"/>
              </a:rPr>
              <a:t>Production needs a durable distributed event queue and an external scheduled trigger.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6984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E38"/>
                </a:solidFill>
                <a:latin typeface="Aptos"/>
              </a:rPr>
              <a:t>What changed after refactoring?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795528"/>
            <a:ext cx="749808" cy="50292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310896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D69BE"/>
                </a:solidFill>
                <a:latin typeface="Aptos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185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8229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57185"/>
                </a:solidFill>
                <a:latin typeface="Aptos"/>
              </a:rPr>
              <a:t>23CSE455 • Design Patterns Case Study • Team B2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57185"/>
                </a:solidFill>
                <a:latin typeface="Aptos"/>
              </a:rPr>
              <a:t>CONFIRMED CLASSICAL GoF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1097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2"/>
                </a:solidFill>
                <a:latin typeface="Aptos"/>
              </a:rPr>
              <a:t>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581912"/>
            <a:ext cx="137160" cy="228600"/>
          </a:xfrm>
          <a:prstGeom prst="roundRect">
            <a:avLst/>
          </a:prstGeom>
          <a:solidFill>
            <a:srgbClr val="B9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097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2"/>
                </a:solidFill>
                <a:latin typeface="Aptos"/>
              </a:rPr>
              <a:t>Evolved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975104"/>
            <a:ext cx="2834640" cy="228600"/>
          </a:xfrm>
          <a:prstGeom prst="roundRect">
            <a:avLst/>
          </a:prstGeom>
          <a:solidFill>
            <a:srgbClr val="258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1938528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58562"/>
                </a:solidFill>
                <a:latin typeface="Aptos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14300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35040" y="1252728"/>
            <a:ext cx="54864" cy="1106424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6207" y="1289304"/>
            <a:ext cx="21488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Pattern-like idioms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7" y="1746504"/>
            <a:ext cx="214884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2 preserved / extended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14300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23960" y="1252728"/>
            <a:ext cx="54864" cy="110642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25128" y="1289304"/>
            <a:ext cx="21488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Mapped collaborations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1746504"/>
            <a:ext cx="214884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7 total; roles made explicit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2971800"/>
            <a:ext cx="237744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3081528"/>
            <a:ext cx="223113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9D97"/>
                </a:solidFill>
                <a:latin typeface="Aptos"/>
              </a:rPr>
              <a:t>+13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3557016"/>
            <a:ext cx="223113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57185"/>
                </a:solidFill>
                <a:latin typeface="Aptos"/>
              </a:rPr>
              <a:t>CONCRETE CLASSES / UNITS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2971800"/>
            <a:ext cx="237744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02152" y="3081528"/>
            <a:ext cx="223113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2D69BE"/>
                </a:solidFill>
                <a:latin typeface="Aptos"/>
              </a:rPr>
              <a:t>+18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3557016"/>
            <a:ext cx="223113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57185"/>
                </a:solidFill>
                <a:latin typeface="Aptos"/>
              </a:rPr>
              <a:t>UNIQUE SYMBOLS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2971800"/>
            <a:ext cx="237744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08192" y="3081528"/>
            <a:ext cx="223113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258562"/>
                </a:solidFill>
                <a:latin typeface="Aptos"/>
              </a:rPr>
              <a:t>17/17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8192" y="3557016"/>
            <a:ext cx="223113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57185"/>
                </a:solidFill>
                <a:latin typeface="Aptos"/>
              </a:rPr>
              <a:t>TESTS PASSED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971800"/>
            <a:ext cx="237744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14232" y="3081528"/>
            <a:ext cx="223113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0B03C"/>
                </a:solidFill>
                <a:latin typeface="Aptos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14232" y="3557016"/>
            <a:ext cx="223113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57185"/>
                </a:solidFill>
                <a:latin typeface="Aptos"/>
              </a:rPr>
              <a:t>REPORTED REGRESSIONS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434840"/>
            <a:ext cx="103327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11E38"/>
                </a:solidFill>
                <a:latin typeface="Aptos"/>
              </a:rPr>
              <a:t>Interpretation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846320"/>
            <a:ext cx="10241280" cy="10972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63042"/>
                </a:solidFill>
                <a:latin typeface="Aptos"/>
              </a:rPr>
              <a:t>• The design became more explicit and testable, at the cost of additional classes and indirection.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3042"/>
                </a:solidFill>
                <a:latin typeface="Aptos"/>
              </a:rPr>
              <a:t>• Formal abstractions were added at high-variation boundaries: provider integration, scheduling rules and notifications.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3042"/>
                </a:solidFill>
                <a:latin typeface="Aptos"/>
              </a:rPr>
              <a:t>• The patterns are not automatically “better” everywhere; their value depends on actual variation and coupling.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6984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E38"/>
                </a:solidFill>
                <a:latin typeface="Aptos"/>
              </a:rPr>
              <a:t>Part 3 — cross-language experiment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795528"/>
            <a:ext cx="749808" cy="50292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310896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D69BE"/>
                </a:solidFill>
                <a:latin typeface="Aptos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185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8229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57185"/>
                </a:solidFill>
                <a:latin typeface="Aptos"/>
              </a:rPr>
              <a:t>23CSE455 • Design Patterns Case Study • Team B2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2286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207007"/>
            <a:ext cx="213969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2D69BE"/>
                </a:solidFill>
                <a:latin typeface="Aptos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82495"/>
            <a:ext cx="21396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57185"/>
                </a:solidFill>
                <a:latin typeface="Aptos"/>
              </a:rPr>
              <a:t>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97280"/>
            <a:ext cx="2286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19272" y="1207007"/>
            <a:ext cx="213969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9D97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1682495"/>
            <a:ext cx="21396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57185"/>
                </a:solidFill>
                <a:latin typeface="Aptos"/>
              </a:rPr>
              <a:t>LANGUAGES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097280"/>
            <a:ext cx="22860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33872" y="1207007"/>
            <a:ext cx="213969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0B03C"/>
                </a:solidFill>
                <a:latin typeface="Aptos"/>
              </a:rPr>
              <a:t>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3872" y="1682495"/>
            <a:ext cx="21396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57185"/>
                </a:solidFill>
                <a:latin typeface="Aptos"/>
              </a:rPr>
              <a:t>IMPLEMENTATIONS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097280"/>
            <a:ext cx="27432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8472" y="1207007"/>
            <a:ext cx="259689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2D69BE"/>
                </a:solidFill>
                <a:latin typeface="Aptos"/>
              </a:rPr>
              <a:t>5 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1682495"/>
            <a:ext cx="25968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57185"/>
                </a:solidFill>
                <a:latin typeface="Aptos"/>
              </a:rPr>
              <a:t>MEDIAN TIMING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514600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11E38"/>
                </a:solidFill>
                <a:latin typeface="Aptos"/>
              </a:rPr>
              <a:t>Patterns evaluated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1752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127248"/>
            <a:ext cx="54864" cy="101498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163824"/>
            <a:ext cx="31089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E38"/>
                </a:solidFill>
                <a:latin typeface="Aptos"/>
              </a:rPr>
              <a:t>Creational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621024"/>
            <a:ext cx="3108960" cy="521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Singleton • Factory Method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01752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26280" y="3127248"/>
            <a:ext cx="54864" cy="1014984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27448" y="3163824"/>
            <a:ext cx="31089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E38"/>
                </a:solidFill>
                <a:latin typeface="Aptos"/>
              </a:rPr>
              <a:t>Structural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3621024"/>
            <a:ext cx="3108960" cy="521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Adapter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017520"/>
            <a:ext cx="3474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21040" y="3127248"/>
            <a:ext cx="54864" cy="1014984"/>
          </a:xfrm>
          <a:prstGeom prst="rect">
            <a:avLst/>
          </a:prstGeom>
          <a:solidFill>
            <a:srgbClr val="F0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22208" y="3163824"/>
            <a:ext cx="31089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E38"/>
                </a:solidFill>
                <a:latin typeface="Aptos"/>
              </a:rPr>
              <a:t>Behavioral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3621024"/>
            <a:ext cx="3108960" cy="521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Strategy • Observer • State • Command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617720"/>
            <a:ext cx="102412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11E38"/>
                </a:solidFill>
                <a:latin typeface="Aptos"/>
              </a:rPr>
              <a:t>Language toolchains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120640"/>
            <a:ext cx="2606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2" y="5230368"/>
            <a:ext cx="2468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11E38"/>
                </a:solidFill>
                <a:latin typeface="Aptos"/>
              </a:rPr>
              <a:t>Java 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5468112"/>
            <a:ext cx="24688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57185"/>
                </a:solidFill>
                <a:latin typeface="Aptos"/>
              </a:rPr>
              <a:t>Explicit interfaces / OOP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11880" y="5120640"/>
            <a:ext cx="2606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F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85032" y="5230368"/>
            <a:ext cx="2468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11E38"/>
                </a:solidFill>
                <a:latin typeface="Aptos"/>
              </a:rPr>
              <a:t>Python 3.11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85032" y="5468112"/>
            <a:ext cx="24688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57185"/>
                </a:solidFill>
                <a:latin typeface="Aptos"/>
              </a:rPr>
              <a:t>ABC, dataclasses, callbacks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5120640"/>
            <a:ext cx="2606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0B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65392" y="5230368"/>
            <a:ext cx="2468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11E38"/>
                </a:solidFill>
                <a:latin typeface="Aptos"/>
              </a:rPr>
              <a:t>JavaScript / Node 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5468112"/>
            <a:ext cx="24688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57185"/>
                </a:solidFill>
                <a:latin typeface="Aptos"/>
              </a:rPr>
              <a:t>ES6 classes, promises, duck typing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72600" y="5120640"/>
            <a:ext cx="2606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B9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45752" y="5230368"/>
            <a:ext cx="2468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11E38"/>
                </a:solidFill>
                <a:latin typeface="Aptos"/>
              </a:rPr>
              <a:t>C++14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45752" y="5468112"/>
            <a:ext cx="24688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57185"/>
                </a:solidFill>
                <a:latin typeface="Aptos"/>
              </a:rPr>
              <a:t>Virtual methods, smart pointers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6984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E38"/>
                </a:solidFill>
                <a:latin typeface="Aptos"/>
              </a:rPr>
              <a:t>Cross-language results: concise code vs. explicit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795528"/>
            <a:ext cx="749808" cy="50292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310896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D69BE"/>
                </a:solidFill>
                <a:latin typeface="Aptos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185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8229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57185"/>
                </a:solidFill>
                <a:latin typeface="Aptos"/>
              </a:rPr>
              <a:t>23CSE455 • Design Patterns Case Study • Team B2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515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57185"/>
                </a:solidFill>
                <a:latin typeface="Aptos"/>
              </a:rPr>
              <a:t>Representative total LOC ranges across the seven pattern implementations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645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755648"/>
            <a:ext cx="2377440" cy="246888"/>
          </a:xfrm>
          <a:prstGeom prst="round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1719072"/>
            <a:ext cx="20116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63042"/>
                </a:solidFill>
                <a:latin typeface="Aptos"/>
              </a:rPr>
              <a:t>22–85 LOC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1645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JavaScript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2560320"/>
            <a:ext cx="2926080" cy="246888"/>
          </a:xfrm>
          <a:prstGeom prst="round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2523744"/>
            <a:ext cx="20116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63042"/>
                </a:solidFill>
                <a:latin typeface="Aptos"/>
              </a:rPr>
              <a:t>20–109 LOC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46704"/>
            <a:ext cx="1645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Java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3364992"/>
            <a:ext cx="3749039" cy="246888"/>
          </a:xfrm>
          <a:prstGeom prst="roundRect">
            <a:avLst/>
          </a:prstGeom>
          <a:solidFill>
            <a:srgbClr val="F0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3328416"/>
            <a:ext cx="20116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63042"/>
                </a:solidFill>
                <a:latin typeface="Aptos"/>
              </a:rPr>
              <a:t>32–152 LOC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51376"/>
            <a:ext cx="1645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C++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4169663"/>
            <a:ext cx="3474720" cy="246888"/>
          </a:xfrm>
          <a:prstGeom prst="roundRect">
            <a:avLst/>
          </a:prstGeom>
          <a:solidFill>
            <a:srgbClr val="B9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4133088"/>
            <a:ext cx="20116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63042"/>
                </a:solidFill>
                <a:latin typeface="Aptos"/>
              </a:rPr>
              <a:t>42–141 LOC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719072"/>
            <a:ext cx="256032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9D97"/>
                </a:solidFill>
                <a:latin typeface="Aptos"/>
              </a:rPr>
              <a:t>Python and JavaScript generally used fewer lines than Java/C++.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66360"/>
            <a:ext cx="50749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5276088"/>
            <a:ext cx="54864" cy="512064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5312664"/>
            <a:ext cx="4709159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E38"/>
                </a:solidFill>
                <a:latin typeface="Aptos"/>
              </a:rPr>
              <a:t>Key trade-off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5769864"/>
            <a:ext cx="4709159" cy="182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2"/>
                </a:solidFill>
                <a:latin typeface="Aptos"/>
              </a:rPr>
              <a:t>Dynamic languages reduce boilerplate; runtime validation becomes more important.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5166360"/>
            <a:ext cx="50749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5276088"/>
            <a:ext cx="54864" cy="512064"/>
          </a:xfrm>
          <a:prstGeom prst="rect">
            <a:avLst/>
          </a:prstGeom>
          <a:solidFill>
            <a:srgbClr val="F0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73368" y="5312664"/>
            <a:ext cx="4709159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E38"/>
                </a:solidFill>
                <a:latin typeface="Aptos"/>
              </a:rPr>
              <a:t>Interpretation caution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5769864"/>
            <a:ext cx="4709159" cy="182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2"/>
                </a:solidFill>
                <a:latin typeface="Aptos"/>
              </a:rPr>
              <a:t>LOC depends on idiom and measurement boundaries; less code does not mean better design by itself.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572000"/>
            <a:ext cx="10332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57185"/>
                </a:solidFill>
                <a:latin typeface="Aptos"/>
              </a:rPr>
              <a:t>Report finding: approximately 38–55% fewer LOC for dynamic-language implementations in the compared patterns.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69848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11E38"/>
                </a:solidFill>
                <a:latin typeface="Aptos"/>
              </a:rPr>
              <a:t>Part 3 deep dive — test coverage and measurement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795528"/>
            <a:ext cx="749808" cy="50292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64040" y="310896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2D69BE"/>
                </a:solidFill>
                <a:latin typeface="Aptos"/>
              </a:rPr>
              <a:t>PART 3 •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8229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57185"/>
                </a:solidFill>
                <a:latin typeface="Aptos"/>
              </a:rPr>
              <a:t>23CSE455 • Design Patterns Case Study • Team B2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104241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1E38"/>
                </a:solidFill>
                <a:latin typeface="Aptos"/>
              </a:rPr>
              <a:t>Pattern test totals (same behavioral specification across all four languages)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69BE"/>
                </a:solidFill>
                <a:latin typeface="Aptos"/>
              </a:rPr>
              <a:t>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72768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69BE"/>
                </a:solidFill>
                <a:latin typeface="Aptos"/>
              </a:rPr>
              <a:t>Tests per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572768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69BE"/>
                </a:solidFill>
                <a:latin typeface="Aptos"/>
              </a:rPr>
              <a:t>Across 4 languages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911096"/>
            <a:ext cx="9875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E38"/>
                </a:solidFill>
                <a:latin typeface="Aptos"/>
              </a:rPr>
              <a:t>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1938528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63042"/>
                </a:solidFill>
                <a:latin typeface="Aptos"/>
              </a:rPr>
              <a:t>6 tests per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938528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63042"/>
                </a:solidFill>
                <a:latin typeface="Aptos"/>
              </a:rPr>
              <a:t>24 tests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77440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E38"/>
                </a:solidFill>
                <a:latin typeface="Aptos"/>
              </a:rPr>
              <a:t>Adapter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377440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63042"/>
                </a:solidFill>
                <a:latin typeface="Aptos"/>
              </a:rPr>
              <a:t>6 tests per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377440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63042"/>
                </a:solidFill>
                <a:latin typeface="Aptos"/>
              </a:rPr>
              <a:t>24 tests total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788920"/>
            <a:ext cx="9875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816352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E38"/>
                </a:solidFill>
                <a:latin typeface="Aptos"/>
              </a:rPr>
              <a:t>Observer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816352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63042"/>
                </a:solidFill>
                <a:latin typeface="Aptos"/>
              </a:rPr>
              <a:t>6 tests per 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816352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63042"/>
                </a:solidFill>
                <a:latin typeface="Aptos"/>
              </a:rPr>
              <a:t>24 tests 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255264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E38"/>
                </a:solidFill>
                <a:latin typeface="Aptos"/>
              </a:rPr>
              <a:t>Singleton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255264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63042"/>
                </a:solidFill>
                <a:latin typeface="Aptos"/>
              </a:rPr>
              <a:t>2 tests per 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255264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63042"/>
                </a:solidFill>
                <a:latin typeface="Aptos"/>
              </a:rPr>
              <a:t>8 tests total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666744"/>
            <a:ext cx="9875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694176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E38"/>
                </a:solidFill>
                <a:latin typeface="Aptos"/>
              </a:rPr>
              <a:t>Factory Method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3694176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63042"/>
                </a:solidFill>
                <a:latin typeface="Aptos"/>
              </a:rPr>
              <a:t>5 tests per language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694176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63042"/>
                </a:solidFill>
                <a:latin typeface="Aptos"/>
              </a:rPr>
              <a:t>20 tests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133087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E38"/>
                </a:solidFill>
                <a:latin typeface="Aptos"/>
              </a:rPr>
              <a:t>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133087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63042"/>
                </a:solidFill>
                <a:latin typeface="Aptos"/>
              </a:rPr>
              <a:t>5 tests per language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4133087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63042"/>
                </a:solidFill>
                <a:latin typeface="Aptos"/>
              </a:rPr>
              <a:t>20 tests total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544568"/>
            <a:ext cx="9875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572000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E38"/>
                </a:solidFill>
                <a:latin typeface="Aptos"/>
              </a:rPr>
              <a:t>Command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4572000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63042"/>
                </a:solidFill>
                <a:latin typeface="Aptos"/>
              </a:rPr>
              <a:t>7 tests per language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4572000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63042"/>
                </a:solidFill>
                <a:latin typeface="Aptos"/>
              </a:rPr>
              <a:t>28 tests total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5257800"/>
            <a:ext cx="4892040" cy="685800"/>
          </a:xfrm>
          <a:prstGeom prst="roundRect">
            <a:avLst/>
          </a:prstGeom>
          <a:solidFill>
            <a:srgbClr val="E1F5F2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68680" y="5367528"/>
            <a:ext cx="54864" cy="466344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1560" y="5367528"/>
            <a:ext cx="4572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11E38"/>
                </a:solidFill>
                <a:latin typeface="Aptos"/>
              </a:rPr>
              <a:t>Static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760720"/>
            <a:ext cx="4572000" cy="10058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63042"/>
                </a:solidFill>
                <a:latin typeface="Aptos"/>
              </a:rPr>
              <a:t>LOC excludes blank lines and tests; Lizard reports maximum function cyclomatic complexity.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80760" y="5257800"/>
            <a:ext cx="4892040" cy="685800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080760" y="5367528"/>
            <a:ext cx="54864" cy="466344"/>
          </a:xfrm>
          <a:prstGeom prst="rect">
            <a:avLst/>
          </a:prstGeom>
          <a:solidFill>
            <a:srgbClr val="F0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63640" y="5367528"/>
            <a:ext cx="45720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11E38"/>
                </a:solidFill>
                <a:latin typeface="Aptos"/>
              </a:rPr>
              <a:t>Timing protocol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5760720"/>
            <a:ext cx="4572000" cy="10058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63042"/>
                </a:solidFill>
                <a:latin typeface="Aptos"/>
              </a:rPr>
              <a:t>One warm-up run, then five process executions; report the median. Process startup affects results.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6080760"/>
            <a:ext cx="10241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8562"/>
                </a:solidFill>
                <a:latin typeface="Aptos"/>
              </a:rPr>
              <a:t>All 28 implementations passed their pattern-specific test suites in the report.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6984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E38"/>
                </a:solidFill>
                <a:latin typeface="Aptos"/>
              </a:rPr>
              <a:t>Benchmark interpretation: timing is not a universal ranking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795528"/>
            <a:ext cx="749808" cy="50292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310896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D69BE"/>
                </a:solidFill>
                <a:latin typeface="Aptos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185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8229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57185"/>
                </a:solidFill>
                <a:latin typeface="Aptos"/>
              </a:rPr>
              <a:t>23CSE455 • Design Patterns Case Study • Team B2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98448"/>
            <a:ext cx="54864" cy="128930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335024"/>
            <a:ext cx="3063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11E38"/>
                </a:solidFill>
                <a:latin typeface="Aptos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92224"/>
            <a:ext cx="3063240" cy="795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Often quick in these process-level micro-benchmarks; compact implementations and dynamic dispatch.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8872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298448"/>
            <a:ext cx="54864" cy="1289304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335024"/>
            <a:ext cx="3063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11E38"/>
                </a:solidFill>
                <a:latin typeface="Aptos"/>
              </a:rPr>
              <a:t>JavaScript / Node.js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792224"/>
            <a:ext cx="3063240" cy="795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Fast startup/execution in several measured cases; async promises and built-in collections support event-driven patterns.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8872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298448"/>
            <a:ext cx="54864" cy="1289304"/>
          </a:xfrm>
          <a:prstGeom prst="rect">
            <a:avLst/>
          </a:prstGeom>
          <a:solidFill>
            <a:srgbClr val="F0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335024"/>
            <a:ext cx="3063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11E38"/>
                </a:solidFill>
                <a:latin typeface="Aptos"/>
              </a:rPr>
              <a:t>Java &amp; C++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792224"/>
            <a:ext cx="3063240" cy="795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Java results include JVM startup/class-loading. C++ results include WSL process invocation overhead.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46120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11E38"/>
                </a:solidFill>
                <a:latin typeface="Aptos"/>
              </a:rPr>
              <a:t>How to read the numbers responsibly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03320"/>
            <a:ext cx="10241280" cy="1463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263042"/>
                </a:solidFill>
                <a:latin typeface="Aptos"/>
              </a:rPr>
              <a:t>• Execution time is the median of five process runs after one warm-up, not a production throughput benchmark.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63042"/>
                </a:solidFill>
                <a:latin typeface="Aptos"/>
              </a:rPr>
              <a:t>• Different runtimes and startup costs make direct language-level conclusions limited.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63042"/>
                </a:solidFill>
                <a:latin typeface="Aptos"/>
              </a:rPr>
              <a:t>• Cyclomatic complexity is maximum function CC; a lower value is useful context, not a complete maintainability score.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263042"/>
                </a:solidFill>
                <a:latin typeface="Aptos"/>
              </a:rPr>
              <a:t>• All recorded implementations passed their pattern-specific tests in the report.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715000"/>
            <a:ext cx="10332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94646"/>
                </a:solidFill>
                <a:latin typeface="Aptos"/>
              </a:rPr>
              <a:t>Use the measurements to compare these implementations under this setup—not to declare one language universally fastest.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6984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E38"/>
                </a:solidFill>
                <a:latin typeface="Aptos"/>
              </a:rPr>
              <a:t>AI-assisted analysis: why human verification mattered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795528"/>
            <a:ext cx="749808" cy="50292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310896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D69BE"/>
                </a:solidFill>
                <a:latin typeface="Aptos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185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8229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57185"/>
                </a:solidFill>
                <a:latin typeface="Aptos"/>
              </a:rPr>
              <a:t>23CSE455 • Design Patterns Case Study • Team B2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3474720" cy="1417320"/>
          </a:xfrm>
          <a:prstGeom prst="roundRect">
            <a:avLst/>
          </a:prstGeom>
          <a:solidFill>
            <a:srgbClr val="FCE9E9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52728"/>
            <a:ext cx="54864" cy="1197864"/>
          </a:xfrm>
          <a:prstGeom prst="rect">
            <a:avLst/>
          </a:prstGeom>
          <a:solidFill>
            <a:srgbClr val="B9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289304"/>
            <a:ext cx="31089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False positive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46504"/>
            <a:ext cx="3108960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2"/>
                </a:solidFill>
                <a:latin typeface="Aptos"/>
              </a:rPr>
              <a:t>A switch statement was labelled Strategy. Rejected: no interchangeable strategy objects or shared execution contract.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43000"/>
            <a:ext cx="3474720" cy="1417320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252728"/>
            <a:ext cx="54864" cy="1197864"/>
          </a:xfrm>
          <a:prstGeom prst="rect">
            <a:avLst/>
          </a:prstGeom>
          <a:solidFill>
            <a:srgbClr val="F0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289304"/>
            <a:ext cx="31089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False positive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746504"/>
            <a:ext cx="3108960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2"/>
                </a:solidFill>
                <a:latin typeface="Aptos"/>
              </a:rPr>
              <a:t>Module-level Appwrite client reuse was labelled formal Singleton. Reclassified as a language-level idiom.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474720" cy="1417320"/>
          </a:xfrm>
          <a:prstGeom prst="roundRect">
            <a:avLst/>
          </a:prstGeom>
          <a:solidFill>
            <a:srgbClr val="E1F5F2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252728"/>
            <a:ext cx="54864" cy="1197864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289304"/>
            <a:ext cx="31089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Human correction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746504"/>
            <a:ext cx="3108960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2"/>
                </a:solidFill>
                <a:latin typeface="Aptos"/>
              </a:rPr>
              <a:t>Generated Observer skeletons lacked idempotency. Team added deterministic SHA-256 keys and atomic persistence.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63240"/>
            <a:ext cx="10515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11E38"/>
                </a:solidFill>
                <a:latin typeface="Aptos"/>
              </a:rPr>
              <a:t>Verification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6616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675887"/>
            <a:ext cx="54864" cy="832103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712463"/>
            <a:ext cx="21488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E38"/>
                </a:solidFill>
                <a:latin typeface="Aptos"/>
              </a:rPr>
              <a:t>LLM proposes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169663"/>
            <a:ext cx="2148840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2"/>
                </a:solidFill>
                <a:latin typeface="Aptos"/>
              </a:rPr>
              <a:t>Candidate patterns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273552" y="3913632"/>
            <a:ext cx="292608" cy="201168"/>
          </a:xfrm>
          <a:prstGeom prst="rightArrow">
            <a:avLst/>
          </a:prstGeom>
          <a:solidFill>
            <a:srgbClr val="65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611880" y="356616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11880" y="3675887"/>
            <a:ext cx="54864" cy="832103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13048" y="3712463"/>
            <a:ext cx="21488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E38"/>
                </a:solidFill>
                <a:latin typeface="Aptos"/>
              </a:rPr>
              <a:t>AST / code 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3048" y="4169663"/>
            <a:ext cx="2148840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2"/>
                </a:solidFill>
                <a:latin typeface="Aptos"/>
              </a:rPr>
              <a:t>Check roles, interfaces, dispatch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153912" y="3913632"/>
            <a:ext cx="292608" cy="201168"/>
          </a:xfrm>
          <a:prstGeom prst="rightArrow">
            <a:avLst/>
          </a:prstGeom>
          <a:solidFill>
            <a:srgbClr val="65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92240" y="356616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92240" y="3675887"/>
            <a:ext cx="54864" cy="832103"/>
          </a:xfrm>
          <a:prstGeom prst="rect">
            <a:avLst/>
          </a:prstGeom>
          <a:solidFill>
            <a:srgbClr val="F0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93407" y="3712463"/>
            <a:ext cx="21488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E38"/>
                </a:solidFill>
                <a:latin typeface="Aptos"/>
              </a:rPr>
              <a:t>Tests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3407" y="4169663"/>
            <a:ext cx="2148840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2"/>
                </a:solidFill>
                <a:latin typeface="Aptos"/>
              </a:rPr>
              <a:t>Validate behavior and regressions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034272" y="3913632"/>
            <a:ext cx="292608" cy="201168"/>
          </a:xfrm>
          <a:prstGeom prst="rightArrow">
            <a:avLst/>
          </a:prstGeom>
          <a:solidFill>
            <a:srgbClr val="65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372600" y="356616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372600" y="3675887"/>
            <a:ext cx="54864" cy="832103"/>
          </a:xfrm>
          <a:prstGeom prst="rect">
            <a:avLst/>
          </a:prstGeom>
          <a:solidFill>
            <a:srgbClr val="258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73768" y="3712463"/>
            <a:ext cx="21488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E38"/>
                </a:solidFill>
                <a:latin typeface="Aptos"/>
              </a:rPr>
              <a:t>Human judgment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3768" y="4169663"/>
            <a:ext cx="2148840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3042"/>
                </a:solidFill>
                <a:latin typeface="Aptos"/>
              </a:rPr>
              <a:t>Accept, reject or qualify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166360"/>
            <a:ext cx="100584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11E38"/>
                </a:solidFill>
                <a:latin typeface="Aptos"/>
              </a:rPr>
              <a:t>Lesson: a pattern is defined by its collaboration and intent—not by a class name, a switch statement, or a superficial resemblance.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6984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E38"/>
                </a:solidFill>
                <a:latin typeface="Aptos"/>
              </a:rPr>
              <a:t>Limitations and production-readiness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795528"/>
            <a:ext cx="749808" cy="50292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310896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D69BE"/>
                </a:solidFill>
                <a:latin typeface="Aptos"/>
              </a:rPr>
              <a:t>CRITICAL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185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8229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57185"/>
                </a:solidFill>
                <a:latin typeface="Aptos"/>
              </a:rPr>
              <a:t>23CSE455 • Design Patterns Case Study • Team B2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3474720" cy="1600200"/>
          </a:xfrm>
          <a:prstGeom prst="roundRect">
            <a:avLst/>
          </a:prstGeom>
          <a:solidFill>
            <a:srgbClr val="FCE9E9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52728"/>
            <a:ext cx="54864" cy="1380744"/>
          </a:xfrm>
          <a:prstGeom prst="rect">
            <a:avLst/>
          </a:prstGeom>
          <a:solidFill>
            <a:srgbClr val="B9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289304"/>
            <a:ext cx="31089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Availability race condition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46504"/>
            <a:ext cx="3108960" cy="8869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2"/>
                </a:solidFill>
                <a:latin typeface="Aptos"/>
              </a:rPr>
              <a:t>Validation runs in application memory. Concurrent requests may both pass unless the database enforces slot uniqueness / locking.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43000"/>
            <a:ext cx="3474720" cy="1600200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252728"/>
            <a:ext cx="54864" cy="1380744"/>
          </a:xfrm>
          <a:prstGeom prst="rect">
            <a:avLst/>
          </a:prstGeom>
          <a:solidFill>
            <a:srgbClr val="F0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289304"/>
            <a:ext cx="31089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Demonstration video adapter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746504"/>
            <a:ext cx="3108960" cy="8869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2"/>
                </a:solidFill>
                <a:latin typeface="Aptos"/>
              </a:rPr>
              <a:t>Uses a local demo provider; production needs a real WebRTC signaling flow or vendor SDK integration.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474720" cy="1600200"/>
          </a:xfrm>
          <a:prstGeom prst="roundRect">
            <a:avLst/>
          </a:prstGeom>
          <a:solidFill>
            <a:srgbClr val="E5EEFB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252728"/>
            <a:ext cx="54864" cy="138074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289304"/>
            <a:ext cx="31089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E38"/>
                </a:solidFill>
                <a:latin typeface="Aptos"/>
              </a:rPr>
              <a:t>Single-process event bus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746504"/>
            <a:ext cx="3108960" cy="8869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042"/>
                </a:solidFill>
                <a:latin typeface="Aptos"/>
              </a:rPr>
              <a:t>In-memory event delivery is not distributed across serverless instances; production may need SQS, RabbitMQ or Redis Pub/Sub.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46120"/>
            <a:ext cx="10515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11E38"/>
                </a:solidFill>
                <a:latin typeface="Aptos"/>
              </a:rPr>
              <a:t>Next engineering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03320"/>
            <a:ext cx="10149840" cy="15087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63042"/>
                </a:solidFill>
                <a:latin typeface="Aptos"/>
              </a:rPr>
              <a:t>• Enforce a database-level unique constraint on doctor + slot timestamp and handle conflict responses.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63042"/>
                </a:solidFill>
                <a:latin typeface="Aptos"/>
              </a:rPr>
              <a:t>• Replace the local video provider with a real provider behind the same adapter contract.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63042"/>
                </a:solidFill>
                <a:latin typeface="Aptos"/>
              </a:rPr>
              <a:t>• Move reminder events to a durable distributed broker and add monitoring / dead-letter handling.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63042"/>
                </a:solidFill>
                <a:latin typeface="Aptos"/>
              </a:rPr>
              <a:t>• Add integration and concurrency tests under realistic deployment conditions.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6984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E38"/>
                </a:solidFill>
                <a:latin typeface="Aptos"/>
              </a:rPr>
              <a:t>Conclusion: patterns should solve demonstrated design pressure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795528"/>
            <a:ext cx="749808" cy="50292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310896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D69BE"/>
                </a:solidFill>
                <a:latin typeface="Aptos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185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8229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57185"/>
                </a:solidFill>
                <a:latin typeface="Aptos"/>
              </a:rPr>
              <a:t>23CSE455 • Design Patterns Case Study • Team B2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474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98448"/>
            <a:ext cx="54864" cy="110642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335024"/>
            <a:ext cx="31089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E38"/>
                </a:solidFill>
                <a:latin typeface="Aptos"/>
              </a:rPr>
              <a:t>Discover carefully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92224"/>
            <a:ext cx="310896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The baseline had two pattern-like idioms, but zero confirmed classical GoF patterns.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88720"/>
            <a:ext cx="3474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298448"/>
            <a:ext cx="54864" cy="1106424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335024"/>
            <a:ext cx="31089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E38"/>
                </a:solidFill>
                <a:latin typeface="Aptos"/>
              </a:rPr>
              <a:t>Apply selectively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792224"/>
            <a:ext cx="310896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Adapter, Strategy and Observer improved boundaries where vendor coupling, policy variation and side effects existed.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88720"/>
            <a:ext cx="3474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298448"/>
            <a:ext cx="54864" cy="1106424"/>
          </a:xfrm>
          <a:prstGeom prst="rect">
            <a:avLst/>
          </a:prstGeom>
          <a:solidFill>
            <a:srgbClr val="F0B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335024"/>
            <a:ext cx="31089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E38"/>
                </a:solidFill>
                <a:latin typeface="Aptos"/>
              </a:rPr>
              <a:t>Measure and qualify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792224"/>
            <a:ext cx="310896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042"/>
                </a:solidFill>
                <a:latin typeface="Aptos"/>
              </a:rPr>
              <a:t>28 implementations passed their reported tests; code size and timing must be interpreted within setup limits.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657600"/>
            <a:ext cx="9966960" cy="10058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263042"/>
                </a:solidFill>
                <a:latin typeface="Aptos"/>
              </a:rPr>
              <a:t>Good design-pattern analysis is not about finding as many patterns as possible. It is about proving the collaboration, explaining the trade-off, and validating that the design solves a real problem.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698480" cy="42062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t>Presentation plan — five presenters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795528"/>
            <a:ext cx="749808" cy="50292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64040" y="310896"/>
            <a:ext cx="20574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00" b="1">
                <a:solidFill>
                  <a:srgbClr val="2D69BE"/>
                </a:solidFill>
                <a:latin typeface="Aptos"/>
              </a:rPr>
              <a:t>PRESENTATION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06440"/>
            <a:ext cx="1024128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/>
            </a:pPr>
            <a:r>
              <a:t>20 slides total • 4 slides per presenter • all five team members included.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92240"/>
            <a:ext cx="82296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800" b="0">
                <a:solidFill>
                  <a:srgbClr val="657185"/>
                </a:solidFill>
                <a:latin typeface="Aptos"/>
              </a:rPr>
              <a:t>23CSE455 • Design Patterns Case Study • Team B2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1097280"/>
            <a:ext cx="10680192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1216152"/>
            <a:ext cx="24231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1F314D"/>
                </a:solidFill>
                <a:latin typeface="Aptos Display"/>
              </a:defRPr>
            </a:pPr>
            <a:r>
              <a:t>Gali Rahul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1216152"/>
            <a:ext cx="1325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2E67B1"/>
                </a:solidFill>
                <a:latin typeface="Aptos"/>
              </a:defRPr>
            </a:pPr>
            <a:r>
              <a:t>Slides 1–4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1170432"/>
            <a:ext cx="64922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374151"/>
                </a:solidFill>
                <a:latin typeface="Aptos"/>
              </a:defRPr>
            </a:pPr>
            <a:r>
              <a:t>Introduction, case-study context and baseline audit.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1865376"/>
            <a:ext cx="10680192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1984248"/>
            <a:ext cx="24231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1F314D"/>
                </a:solidFill>
                <a:latin typeface="Aptos Display"/>
              </a:defRPr>
            </a:pPr>
            <a:r>
              <a:t>T. S. J. Sriharsha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1984248"/>
            <a:ext cx="1325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2E67B1"/>
                </a:solidFill>
                <a:latin typeface="Aptos"/>
              </a:defRPr>
            </a:pPr>
            <a:r>
              <a:t>Slides 5–8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1938528"/>
            <a:ext cx="64922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374151"/>
                </a:solidFill>
                <a:latin typeface="Aptos"/>
              </a:defRPr>
            </a:pPr>
            <a:r>
              <a:t>Original architecture, evolution overview, Adapter and Strategy.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" y="2633472"/>
            <a:ext cx="10680192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2752344"/>
            <a:ext cx="24231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1F314D"/>
                </a:solidFill>
                <a:latin typeface="Aptos Display"/>
              </a:defRPr>
            </a:pPr>
            <a:r>
              <a:t>Kartheek Mudi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2752344"/>
            <a:ext cx="1325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2E67B1"/>
                </a:solidFill>
                <a:latin typeface="Aptos"/>
              </a:defRPr>
            </a:pPr>
            <a:r>
              <a:t>Slides 9–12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706624"/>
            <a:ext cx="64922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374151"/>
                </a:solidFill>
                <a:latin typeface="Aptos"/>
              </a:defRPr>
            </a:pPr>
            <a:r>
              <a:t>Observer, verification, refactoring outcomes and experiment design.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" y="3401568"/>
            <a:ext cx="10680192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3520440"/>
            <a:ext cx="24231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1F314D"/>
                </a:solidFill>
                <a:latin typeface="Aptos Display"/>
              </a:defRPr>
            </a:pPr>
            <a:r>
              <a:t>P. Jaswanth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3520440"/>
            <a:ext cx="1325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2E67B1"/>
                </a:solidFill>
                <a:latin typeface="Aptos"/>
              </a:defRPr>
            </a:pPr>
            <a:r>
              <a:t>Slides 13–16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3474720"/>
            <a:ext cx="64922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374151"/>
                </a:solidFill>
                <a:latin typeface="Aptos"/>
              </a:defRPr>
            </a:pPr>
            <a:r>
              <a:t>Cross-language results, testing, benchmarks and AI-assisted analysis.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" y="4169664"/>
            <a:ext cx="10680192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4288536"/>
            <a:ext cx="24231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1F314D"/>
                </a:solidFill>
                <a:latin typeface="Aptos Display"/>
              </a:defRPr>
            </a:pPr>
            <a:r>
              <a:t>Sai Pranay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6120" y="4288536"/>
            <a:ext cx="1325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2E67B1"/>
                </a:solidFill>
                <a:latin typeface="Aptos"/>
              </a:defRPr>
            </a:pPr>
            <a:r>
              <a:t>Slides 17–20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242816"/>
            <a:ext cx="64922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374151"/>
                </a:solidFill>
                <a:latin typeface="Aptos"/>
              </a:defRPr>
            </a:pPr>
            <a:r>
              <a:t>Integration evidence, production limitations, conclusion and Q&amp;A.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6984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E38"/>
                </a:solidFill>
                <a:latin typeface="Aptos"/>
              </a:rPr>
              <a:t>References &amp;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795528"/>
            <a:ext cx="749808" cy="50292"/>
          </a:xfrm>
          <a:prstGeom prst="rect">
            <a:avLst/>
          </a:prstGeom>
          <a:solidFill>
            <a:srgbClr val="1F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0" y="310896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D69BE"/>
                </a:solidFill>
                <a:latin typeface="Aptos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185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8229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57185"/>
                </a:solidFill>
                <a:latin typeface="Aptos"/>
              </a:rPr>
              <a:t>23CSE455 • Design Patterns Case Study • Team B2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5029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11E38"/>
                </a:solidFill>
                <a:latin typeface="Aptos"/>
              </a:rPr>
              <a:t>Primary project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46320" cy="23774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263042"/>
                </a:solidFill>
                <a:latin typeface="Aptos"/>
              </a:rPr>
              <a:t>• B2_Report.tex / B2_Report.pdf — master case-study report.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63042"/>
                </a:solidFill>
                <a:latin typeface="Aptos"/>
              </a:rPr>
              <a:t>• Part1/ — baseline audit, prompts and pattern inventory.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63042"/>
                </a:solidFill>
                <a:latin typeface="Aptos"/>
              </a:rPr>
              <a:t>• Part2/ — evolution changes, UML diagrams, runtime verification and test evidence.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63042"/>
                </a:solidFill>
                <a:latin typeface="Aptos"/>
              </a:rPr>
              <a:t>• Part3/ — seven patterns across four languages and benchmark datasets.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63042"/>
                </a:solidFill>
                <a:latin typeface="Aptos"/>
              </a:rPr>
              <a:t>• data/cross_language.csv, data/patterns.csv, data/pattern_counts.csv.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43000"/>
            <a:ext cx="4846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11E38"/>
                </a:solidFill>
                <a:latin typeface="Aptos"/>
              </a:rPr>
              <a:t>Foundational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4754880" cy="23774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263042"/>
                </a:solidFill>
                <a:latin typeface="Aptos"/>
              </a:rPr>
              <a:t>• Gamma, Helm, Johnson &amp; Vlissides. Design Patterns: Elements of Reusable Object-Oriented Software (1994).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63042"/>
                </a:solidFill>
                <a:latin typeface="Aptos"/>
              </a:rPr>
              <a:t>• Martin Fowler. Refactoring: Improving the Design of Existing Code, 2nd ed. (2018).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63042"/>
                </a:solidFill>
                <a:latin typeface="Aptos"/>
              </a:rPr>
              <a:t>• Next.js documentation — Server Actions and Mutations.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63042"/>
                </a:solidFill>
                <a:latin typeface="Aptos"/>
              </a:rPr>
              <a:t>• Appwrite documentation — Databases and Node.js Server SDK.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63042"/>
                </a:solidFill>
                <a:latin typeface="Aptos"/>
              </a:rPr>
              <a:t>• Lizard — Cyclomatic Complexity Analyzer.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4663440"/>
            <a:ext cx="5669280" cy="914400"/>
          </a:xfrm>
          <a:prstGeom prst="roundRect">
            <a:avLst/>
          </a:prstGeom>
          <a:solidFill>
            <a:srgbClr val="11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4828032"/>
            <a:ext cx="53035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2540</Words>
  <Application>Microsoft Office PowerPoint</Application>
  <PresentationFormat>Widescreen</PresentationFormat>
  <Paragraphs>389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tiruveedhula</cp:lastModifiedBy>
  <cp:revision>2</cp:revision>
  <dcterms:created xsi:type="dcterms:W3CDTF">2013-01-27T09:14:16Z</dcterms:created>
  <dcterms:modified xsi:type="dcterms:W3CDTF">2026-10-27T18:14:29Z</dcterms:modified>
  <cp:category/>
</cp:coreProperties>
</file>